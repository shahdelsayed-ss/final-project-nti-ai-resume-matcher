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7943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4dWPiErSkSPpa8ub6QcGOHSiabe0eIYW/view?usp=drive_link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1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5029200" cy="5029200"/>
          </a:xfrm>
          <a:prstGeom prst="ellipse">
            <a:avLst/>
          </a:prstGeom>
          <a:solidFill>
            <a:srgbClr val="2E3A7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182880"/>
            <a:ext cx="2743200" cy="2743200"/>
          </a:xfrm>
          <a:prstGeom prst="ellipse">
            <a:avLst/>
          </a:prstGeom>
          <a:solidFill>
            <a:srgbClr val="F2A93B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Resume Matcher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Candidates to Jobs with Semantic AI — from Raw Data to a Deployed App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7863840" cy="2331720"/>
          </a:xfrm>
          <a:prstGeom prst="roundRect">
            <a:avLst>
              <a:gd name="adj" fmla="val 3529"/>
            </a:avLst>
          </a:prstGeom>
          <a:solidFill>
            <a:srgbClr val="232A5C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43000" y="4434840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434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91640" y="4434840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</a:t>
            </a:r>
            <a:r>
              <a:rPr lang="en-US" sz="15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</a:t>
            </a:r>
            <a:r>
              <a:rPr lang="en-US" sz="15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143000" y="4965192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965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91640" y="4965192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Shahd Elsayed Hosny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143000" y="5495544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495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91640" y="5495544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Rawan Abdelhamid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Matcher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GETTING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 &amp; Importing Libraries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526280"/>
          </a:xfrm>
          <a:prstGeom prst="roundRect">
            <a:avLst>
              <a:gd name="adj" fmla="val 1818"/>
            </a:avLst>
          </a:prstGeom>
          <a:solidFill>
            <a:srgbClr val="EDEF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Dataset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3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all_job_post.csv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65176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1B214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2491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1,167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(job postings)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20440" y="265176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1B2145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272491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1188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38862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job_id, category, job_title, job_description, job_skill_set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43484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job postings spanning 5 categories — IT, Business Development, Finance, Sales, and HR — each with a full description and a required-skills list. This is the pool of jobs a candidate's CV is matched against.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1508760"/>
            <a:ext cx="5440680" cy="4526280"/>
          </a:xfrm>
          <a:prstGeom prst="roundRect">
            <a:avLst>
              <a:gd name="adj" fmla="val 1818"/>
            </a:avLst>
          </a:prstGeom>
          <a:solidFill>
            <a:srgbClr val="1B2145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Importing Libraries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2194560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●"/>
            </a:pPr>
            <a:r>
              <a:rPr lang="en-US" sz="120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 — data loading and manipulation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2706624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●"/>
            </a:pPr>
            <a:r>
              <a:rPr lang="en-US" sz="120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— parse the stored skill-set strings into lists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3218688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●"/>
            </a:pPr>
            <a:r>
              <a:rPr lang="en-US" sz="120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(SentenceTransformer, util) — semantic embeddings &amp; similarity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3730752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●"/>
            </a:pPr>
            <a:r>
              <a:rPr lang="en-US" sz="120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 — tensor computation behind the model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4242816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●"/>
            </a:pPr>
            <a:r>
              <a:rPr lang="en-US" sz="120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— build the interactive web app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4754880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●"/>
            </a:pPr>
            <a:r>
              <a:rPr lang="en-US" sz="120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 — extract text from an uploaded CV (PDF)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5266944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●"/>
            </a:pPr>
            <a:r>
              <a:rPr lang="en-US" sz="120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pyngrok — expose the app with a public URL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Matcher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UNDERSTANDING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Exploration &amp; Preparing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526280"/>
          </a:xfrm>
          <a:prstGeom prst="roundRect">
            <a:avLst>
              <a:gd name="adj" fmla="val 1818"/>
            </a:avLst>
          </a:prstGeom>
          <a:solidFill>
            <a:srgbClr val="EDEF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used to get to know the data before touching it: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54203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●"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.shape — 1,167 rows × 5 columns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●"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.head()  /  .tail() — first &amp; last rows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31012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●"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.info() — column types &amp; non-null counts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694176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●"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.describe() — quick statistical summary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407822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●"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.duplicated().sum() — check for duplicate rows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446227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●"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.isnull().sum() — check for missing values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484632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●"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.value_counts() — most common job titles / categories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523036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●"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.unique() — the list of distinct categories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1508760"/>
            <a:ext cx="5440680" cy="4526280"/>
          </a:xfrm>
          <a:prstGeom prst="roundRect">
            <a:avLst>
              <a:gd name="adj" fmla="val 1818"/>
            </a:avLst>
          </a:prstGeom>
          <a:solidFill>
            <a:srgbClr val="EDEFF7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21214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raw columns into clean, usable data: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46520" y="260604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●"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jobs.drop(columns=["job_id"]) — removed, not useful for modelling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46520" y="365760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●"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tech_jobs = jobs[jobs.category == "INFORMATION-TECHNOLOGY"] — example category filter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46520" y="470916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●"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jobs["job_skill_set"].apply(ast.literal_eval) — converts the stored text into a real Python list of skills, ready to compare against a CV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Matcher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1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BUILDING THE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Modeling, Encoding &amp; Deployment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2788920"/>
          </a:xfrm>
          <a:prstGeom prst="roundRect">
            <a:avLst>
              <a:gd name="adj" fmla="val 2951"/>
            </a:avLst>
          </a:prstGeom>
          <a:solidFill>
            <a:srgbClr val="232A5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D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SentenceTransformer(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6D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"paraphrase-MiniLM-L3-v2")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first for experimentation in the notebook.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app upgraded to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E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"all-MiniLM-L6-v2" for better accuracy.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611880" cy="2788920"/>
          </a:xfrm>
          <a:prstGeom prst="roundRect">
            <a:avLst>
              <a:gd name="adj" fmla="val 2951"/>
            </a:avLst>
          </a:prstGeom>
          <a:solidFill>
            <a:srgbClr val="232A5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645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0" y="20116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●"/>
            </a:pPr>
            <a:r>
              <a:rPr lang="en-US" sz="98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job_embeddings = model.encode(job_description list)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572000" y="241401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●"/>
            </a:pPr>
            <a:r>
              <a:rPr lang="en-US" sz="98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cv_embedding = model.encode(cv_text)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572000" y="281635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●"/>
            </a:pPr>
            <a:r>
              <a:rPr lang="en-US" sz="98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similarities = util.cos_sim(cv, jobs)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572000" y="321868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●"/>
            </a:pPr>
            <a:r>
              <a:rPr lang="en-US" sz="98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best_index / best_job selected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0" y="362102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●"/>
            </a:pPr>
            <a:r>
              <a:rPr lang="en-US" sz="98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vs. missing skills + skills_score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8046720" y="1463040"/>
            <a:ext cx="3611880" cy="2788920"/>
          </a:xfrm>
          <a:prstGeom prst="roundRect">
            <a:avLst>
              <a:gd name="adj" fmla="val 2951"/>
            </a:avLst>
          </a:prstGeom>
          <a:solidFill>
            <a:srgbClr val="F2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1645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21040" y="20116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●"/>
            </a:pPr>
            <a:r>
              <a:rPr lang="en-US" sz="980" dirty="0">
                <a:solidFill>
                  <a:srgbClr val="1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streamlit, pyngrok, pdfplumber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8321040" y="241401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●"/>
            </a:pPr>
            <a:r>
              <a:rPr lang="en-US" sz="980" dirty="0">
                <a:solidFill>
                  <a:srgbClr val="1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written with %%writefile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8321040" y="281635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●"/>
            </a:pPr>
            <a:r>
              <a:rPr lang="en-US" sz="980" dirty="0">
                <a:solidFill>
                  <a:srgbClr val="1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ngrok.set_auth_token(...)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8321040" y="321868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●"/>
            </a:pPr>
            <a:r>
              <a:rPr lang="en-US" sz="980" dirty="0">
                <a:solidFill>
                  <a:srgbClr val="1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run app.py --server.port 8501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8321040" y="362102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●"/>
            </a:pPr>
            <a:r>
              <a:rPr lang="en-US" sz="980" dirty="0">
                <a:solidFill>
                  <a:srgbClr val="1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ngrok.connect(8501) → public URL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548640" y="45262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three stages take the notebook's logic and turn it into a live app: the model embeds text into vectors, encoding compares a CV against every job, and deployment makes it accessible through a shareable link.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Matcher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&amp; The App in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EDEF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Notebook:</a:t>
            </a:r>
            <a:endParaRPr lang="en-US" sz="1300" dirty="0"/>
          </a:p>
        </p:txBody>
      </p:sp>
      <p:sp>
        <p:nvSpPr>
          <p:cNvPr id="6" name="Text 4">
            <a:hlinkClick r:id="rId3"/>
          </p:cNvPr>
          <p:cNvSpPr/>
          <p:nvPr/>
        </p:nvSpPr>
        <p:spPr>
          <a:xfrm>
            <a:off x="2834640" y="141732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2E3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https://drive.google.com/file/d/14dWPiErSkSPpa8ub6QcGOHSiabe0eIYW/view?usp=drive_link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77440"/>
            <a:ext cx="2743200" cy="1627632"/>
          </a:xfrm>
          <a:prstGeom prst="roundRect">
            <a:avLst>
              <a:gd name="adj" fmla="val 5056"/>
            </a:avLst>
          </a:prstGeom>
          <a:solidFill>
            <a:srgbClr val="1B2145"/>
          </a:solidFill>
          <a:ln/>
        </p:spPr>
      </p:sp>
      <p:pic>
        <p:nvPicPr>
          <p:cNvPr id="8" name="Image 0" descr="assets/ss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" y="2423160"/>
            <a:ext cx="2651760" cy="15361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401421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screen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55848" y="2377440"/>
            <a:ext cx="2743200" cy="1627632"/>
          </a:xfrm>
          <a:prstGeom prst="roundRect">
            <a:avLst>
              <a:gd name="adj" fmla="val 5056"/>
            </a:avLst>
          </a:prstGeom>
          <a:solidFill>
            <a:srgbClr val="1B2145"/>
          </a:solidFill>
          <a:ln/>
        </p:spPr>
      </p:sp>
      <p:pic>
        <p:nvPicPr>
          <p:cNvPr id="11" name="Image 1" descr="assets/ss2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01568" y="2423160"/>
            <a:ext cx="2651760" cy="15361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01568" y="401421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 &amp; best job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08776" y="2377440"/>
            <a:ext cx="2743200" cy="1627632"/>
          </a:xfrm>
          <a:prstGeom prst="roundRect">
            <a:avLst>
              <a:gd name="adj" fmla="val 5056"/>
            </a:avLst>
          </a:prstGeom>
          <a:solidFill>
            <a:srgbClr val="1B2145"/>
          </a:solidFill>
          <a:ln/>
        </p:spPr>
      </p:sp>
      <p:pic>
        <p:nvPicPr>
          <p:cNvPr id="14" name="Image 2" descr="assets/ss3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254496" y="2423160"/>
            <a:ext cx="2651760" cy="15361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54496" y="401421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job description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9061704" y="2377440"/>
            <a:ext cx="2743200" cy="1627632"/>
          </a:xfrm>
          <a:prstGeom prst="roundRect">
            <a:avLst>
              <a:gd name="adj" fmla="val 5056"/>
            </a:avLst>
          </a:prstGeom>
          <a:solidFill>
            <a:srgbClr val="1B2145"/>
          </a:solidFill>
          <a:ln/>
        </p:spPr>
      </p:sp>
      <p:pic>
        <p:nvPicPr>
          <p:cNvPr id="17" name="Image 3" descr="assets/ss4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107424" y="2423160"/>
            <a:ext cx="2651760" cy="15361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07424" y="401421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vs. missing skills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working Streamlit application: upload a CV, get the best-matching job, and see exactly which skills to work on.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557784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1B2145"/>
          </a:solidFill>
          <a:ln/>
        </p:spPr>
      </p:sp>
      <p:sp>
        <p:nvSpPr>
          <p:cNvPr id="21" name="Text 15"/>
          <p:cNvSpPr/>
          <p:nvPr/>
        </p:nvSpPr>
        <p:spPr>
          <a:xfrm>
            <a:off x="822960" y="557784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8686800" y="55778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Matcher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544</Words>
  <Application>Microsoft Office PowerPoint</Application>
  <PresentationFormat>شاشة عريضة</PresentationFormat>
  <Paragraphs>92</Paragraphs>
  <Slides>5</Slides>
  <Notes>5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5</vt:i4>
      </vt:variant>
    </vt:vector>
  </HeadingPairs>
  <TitlesOfParts>
    <vt:vector size="10" baseType="lpstr">
      <vt:lpstr>Arial</vt:lpstr>
      <vt:lpstr>Calibri</vt:lpstr>
      <vt:lpstr>Cambria</vt:lpstr>
      <vt:lpstr>Courier New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Rama</cp:lastModifiedBy>
  <cp:revision>2</cp:revision>
  <dcterms:created xsi:type="dcterms:W3CDTF">2026-07-15T00:39:01Z</dcterms:created>
  <dcterms:modified xsi:type="dcterms:W3CDTF">2026-07-15T00:45:20Z</dcterms:modified>
</cp:coreProperties>
</file>